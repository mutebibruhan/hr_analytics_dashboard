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chemeClr val="bg2"/>
                </a:solidFill>
                <a:latin typeface="Arial"/>
              </a:rPr>
              <a:t>Average Monthly Salary by Department (AED)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(AED)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bg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Sales</c:v>
                </c:pt>
                <c:pt idx="1">
                  <c:v>Finance</c:v>
                </c:pt>
                <c:pt idx="2">
                  <c:v>Operations</c:v>
                </c:pt>
                <c:pt idx="3">
                  <c:v>Human Resources</c:v>
                </c:pt>
                <c:pt idx="4">
                  <c:v>Marketing</c:v>
                </c:pt>
                <c:pt idx="5">
                  <c:v>Admin</c:v>
                </c:pt>
                <c:pt idx="6">
                  <c:v>IT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25025</c:v>
                </c:pt>
                <c:pt idx="1">
                  <c:v>24442</c:v>
                </c:pt>
                <c:pt idx="2">
                  <c:v>23634</c:v>
                </c:pt>
                <c:pt idx="3">
                  <c:v>23595</c:v>
                </c:pt>
                <c:pt idx="4">
                  <c:v>23549</c:v>
                </c:pt>
                <c:pt idx="5">
                  <c:v>23209</c:v>
                </c:pt>
                <c:pt idx="6">
                  <c:v>22874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56-4963-871A-CE95C1D737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0000"/>
        </c:scaling>
        <c:delete val="0"/>
        <c:axPos val="l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0660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chemeClr val="bg1"/>
                </a:solidFill>
                <a:latin typeface="Arial"/>
              </a:rPr>
              <a:t>New Hires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Hires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148</c:v>
                </c:pt>
                <c:pt idx="2">
                  <c:v>151</c:v>
                </c:pt>
                <c:pt idx="3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7C-47BC-84F8-11FF06D7CBA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00660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chemeClr val="bg1"/>
                </a:solidFill>
                <a:latin typeface="Arial"/>
              </a:rPr>
              <a:t>Avg Performance Rating by Leave Band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Rating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31+ Days</c:v>
                </c:pt>
                <c:pt idx="1">
                  <c:v>6–15 Days</c:v>
                </c:pt>
                <c:pt idx="2">
                  <c:v>0–5 Days</c:v>
                </c:pt>
                <c:pt idx="3">
                  <c:v>16–30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3.16</c:v>
                </c:pt>
                <c:pt idx="1">
                  <c:v>3.06</c:v>
                </c:pt>
                <c:pt idx="2">
                  <c:v>3.05</c:v>
                </c:pt>
                <c:pt idx="3">
                  <c:v>2.95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75-4FFD-8DD3-993218541A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.8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00660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chemeClr val="bg1"/>
                </a:solidFill>
                <a:latin typeface="Arial"/>
              </a:rPr>
              <a:t>Contract Employee % by Branch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Abu Dhabi</c:v>
                </c:pt>
                <c:pt idx="1">
                  <c:v>Dubai</c:v>
                </c:pt>
                <c:pt idx="2">
                  <c:v>Sharjah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22.9</c:v>
                </c:pt>
                <c:pt idx="1">
                  <c:v>22.5</c:v>
                </c:pt>
                <c:pt idx="2">
                  <c:v>29.1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0-4DC4-84EA-B6B21C5C1A4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0660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chemeClr val="bg1"/>
                </a:solidFill>
                <a:latin typeface="Arial"/>
              </a:rPr>
              <a:t>Average Monthly Salary by Nationality (Top 8, AED)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(AED)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Lebanese</c:v>
                </c:pt>
                <c:pt idx="1">
                  <c:v>Filipino</c:v>
                </c:pt>
                <c:pt idx="2">
                  <c:v>Pakistani</c:v>
                </c:pt>
                <c:pt idx="3">
                  <c:v>British</c:v>
                </c:pt>
                <c:pt idx="4">
                  <c:v>Bangladeshi</c:v>
                </c:pt>
                <c:pt idx="5">
                  <c:v>Jordanian</c:v>
                </c:pt>
                <c:pt idx="6">
                  <c:v>Sudanese</c:v>
                </c:pt>
                <c:pt idx="7">
                  <c:v>UAE National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26750</c:v>
                </c:pt>
                <c:pt idx="1">
                  <c:v>25736</c:v>
                </c:pt>
                <c:pt idx="2">
                  <c:v>24581</c:v>
                </c:pt>
                <c:pt idx="3">
                  <c:v>24466</c:v>
                </c:pt>
                <c:pt idx="4">
                  <c:v>24094</c:v>
                </c:pt>
                <c:pt idx="5">
                  <c:v>24087</c:v>
                </c:pt>
                <c:pt idx="6">
                  <c:v>23592</c:v>
                </c:pt>
                <c:pt idx="7">
                  <c:v>22952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FD-4B3A-9FF3-E81F2E28FC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000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0660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16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965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 — Workforce Insights &amp; Business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841248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743200"/>
            <a:ext cx="196596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2743200"/>
            <a:ext cx="196596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23.67K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196596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Performance Rating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743200"/>
            <a:ext cx="196596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3429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Leave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Analyst: Buruhani Mutebi  |  UAE Workforce Analytics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Department &amp; Branch 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Salaries by Department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0756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Trends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15184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426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Days vs. Performance Ratings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8211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0954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Employee Concentration by Branch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4904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Distribution by Nationality &amp; Job Title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50292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1596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Recommendations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57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|  Headcount by Department &amp; Branch City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669280" y="3611880"/>
            <a:ext cx="329184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0720" y="365760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r>
              <a:rPr lang="en-US" sz="10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largest dept (103 employees). All 3 cities are evenly distributed (~33% each), indicating balanced geographic spread.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BB1A2-2677-965D-A0E7-FA6E12FF1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91" y="1245297"/>
            <a:ext cx="3665874" cy="35829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|  Highest Average Salaries by Department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55084462"/>
              </p:ext>
            </p:extLst>
          </p:nvPr>
        </p:nvGraphicFramePr>
        <p:xfrm>
          <a:off x="274320" y="77724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60120"/>
            <a:ext cx="237744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960" y="1014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Dept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37960" y="1280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796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25,025 avg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2148840"/>
            <a:ext cx="237744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203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2468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23.67K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816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depts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3337560"/>
            <a:ext cx="237744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3392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3657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2,151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4005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IT gap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57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5556" y="-9144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|  New Hire Trends 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462854682"/>
              </p:ext>
            </p:extLst>
          </p:nvPr>
        </p:nvGraphicFramePr>
        <p:xfrm>
          <a:off x="274320" y="822960"/>
          <a:ext cx="5943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868680"/>
            <a:ext cx="237744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960" y="905256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98080" y="905256"/>
            <a:ext cx="1280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
</a:t>
            </a:r>
            <a:r>
              <a:rPr lang="en-US" sz="1000" dirty="0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year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237744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819656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0" y="1819656"/>
            <a:ext cx="1280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
</a:t>
            </a:r>
            <a:r>
              <a:rPr lang="en-US" sz="1000" dirty="0">
                <a:solidFill>
                  <a:srgbClr val="546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+97% growth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92240" y="2697480"/>
            <a:ext cx="237744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734056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2734056"/>
            <a:ext cx="1280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
</a:t>
            </a: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hiring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92240" y="3611880"/>
            <a:ext cx="237744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3648456"/>
            <a:ext cx="914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2026*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3648456"/>
            <a:ext cx="1280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
</a:t>
            </a: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only (partial)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5760" y="44348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57"/>
                </a:solidFill>
              </a:rPr>
              <a:t>* 2026 data covers Jan–May only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57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|  Leave Days Taken vs. Performance Rating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092757078"/>
              </p:ext>
            </p:extLst>
          </p:nvPr>
        </p:nvGraphicFramePr>
        <p:xfrm>
          <a:off x="274320" y="8229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200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0" y="1325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31+ leave days show the HIGHEST avg performance (3.16).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2011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taking 16–30 days show the LOWEST rating (2.95).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26974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are narrow (range: 0.21), suggesting leave alone doesn't drive performance.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deeper analysis combining performance type and department.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57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|  Contract Employee Concentration by Branch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03740766"/>
              </p:ext>
            </p:extLst>
          </p:nvPr>
        </p:nvGraphicFramePr>
        <p:xfrm>
          <a:off x="274320" y="8229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54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051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Sharjah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  Contract  |  Highest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2011680"/>
            <a:ext cx="315468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21031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  Contract  |  Second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3063240"/>
            <a:ext cx="3154680" cy="868680"/>
          </a:xfrm>
          <a:prstGeom prst="rect">
            <a:avLst/>
          </a:prstGeom>
          <a:solidFill>
            <a:srgbClr val="388E3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31546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 Contract  |  Lowest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4069080"/>
            <a:ext cx="31546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Sharjah leads contract hiring — may indicate flexible staffing strategy or project-based work concentration.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57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|  Salary Distribution: Nationality &amp; Job Titles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76546107"/>
              </p:ext>
            </p:extLst>
          </p:nvPr>
        </p:nvGraphicFramePr>
        <p:xfrm>
          <a:off x="274320" y="777240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Paying Job Titles:  </a:t>
            </a:r>
            <a:r>
              <a:rPr lang="en-US" sz="1050" dirty="0">
                <a:solidFill>
                  <a:srgbClr val="1C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Analyst(AED 26353 ·avg) • Senior Accountant(AED 25272.Avg) • IT(AED25101.Avg)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57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976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Dept Dominance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the most staff (103). Consider if this aligns with strategic priorities vs. leaner depts like Operations (36).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2976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40280"/>
            <a:ext cx="384048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Equity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6243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earns 9% more than IT despite IT being largest. A compensation benchmarking review is recommended.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2976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384048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5760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Peaked in 2024–25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416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doubled from 2023 to 2024. Sustaining this in 2026 requires proactive talent pipeline management.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822960"/>
            <a:ext cx="42976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822960"/>
            <a:ext cx="384048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82296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914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≠ Performance Drop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2070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leave (31+ days) is associated with slightly higher performance — supports healthy leave policies.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240280"/>
            <a:ext cx="42976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240280"/>
            <a:ext cx="384048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24028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Sharjah Contract Reliance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6243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 contract workforce in Sharjah suggests flexibility — review for compliance and benefits equity.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2976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657600"/>
            <a:ext cx="384048" cy="1234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5760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3749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 Wage Gaps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40416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3,798 gap between Lebanese and UAE nationals. Conduct pay equity audit across nationalities.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BB6A"/>
                </a:solidFill>
              </a:rPr>
              <a:t>Buruhani Mutebi | HR Analytics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841248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017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Buruhani Mutebi
</a:t>
            </a: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Dataset — UAE Workforce (447 Records, 2023–2026)
</a:t>
            </a: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 Cities · 7 Departments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591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 – Stakeholder Presentation</dc:title>
  <dc:subject>PptxGenJS Presentation</dc:subject>
  <dc:creator>Buruhani Mutebi</dc:creator>
  <cp:lastModifiedBy>Aarham .</cp:lastModifiedBy>
  <cp:revision>2</cp:revision>
  <dcterms:created xsi:type="dcterms:W3CDTF">2026-05-31T03:20:28Z</dcterms:created>
  <dcterms:modified xsi:type="dcterms:W3CDTF">2026-05-31T04:03:58Z</dcterms:modified>
</cp:coreProperties>
</file>